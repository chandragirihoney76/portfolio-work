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38404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491FF"/>
                </a:solidFill>
                <a:latin typeface="Aptos Display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246888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5491FF"/>
                </a:solidFill>
                <a:latin typeface="Aptos Display"/>
              </a:rPr>
              <a:t>BUSINESS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 Display"/>
              </a:rPr>
              <a:t>Freight brokerage, redesigned around speed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53312"/>
            <a:ext cx="10789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9" b="0">
                <a:solidFill>
                  <a:srgbClr val="AEBED2"/>
                </a:solidFill>
                <a:latin typeface="Aptos Display"/>
              </a:rPr>
              <a:t>Win the lane. Own the relationship. Scale the network.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47088"/>
            <a:ext cx="1828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AEBED2"/>
                </a:solidFill>
                <a:latin typeface="Aptos Display"/>
              </a:rPr>
              <a:t>THE CORE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39696"/>
            <a:ext cx="557784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 Display"/>
              </a:rPr>
              <a:t>A modern broker for</a:t>
            </a:r>
            <a:br/>
            <a:r>
              <a:t>repeat freight lanes.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246120"/>
            <a:ext cx="5257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CDD8E5"/>
                </a:solidFill>
                <a:latin typeface="Aptos Display"/>
              </a:rPr>
              <a:t>Instead of owning trucks, we own the customer relationship — sourcing vetted capacity, negotiating the lane, tracking the shipment and solving exceptions.</a:t>
            </a:r>
          </a:p>
        </p:txBody>
      </p:sp>
      <p:sp>
        <p:nvSpPr>
          <p:cNvPr id="9" name="Oval 8"/>
          <p:cNvSpPr/>
          <p:nvPr/>
        </p:nvSpPr>
        <p:spPr>
          <a:xfrm>
            <a:off x="7132320" y="2743200"/>
            <a:ext cx="256032" cy="256032"/>
          </a:xfrm>
          <a:prstGeom prst="ellipse">
            <a:avLst/>
          </a:prstGeom>
          <a:solidFill>
            <a:srgbClr val="5491FF"/>
          </a:solidFill>
          <a:ln>
            <a:solidFill>
              <a:srgbClr val="54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15400" y="2240280"/>
            <a:ext cx="256032" cy="256032"/>
          </a:xfrm>
          <a:prstGeom prst="ellipse">
            <a:avLst/>
          </a:prstGeom>
          <a:solidFill>
            <a:srgbClr val="5491FF"/>
          </a:solidFill>
          <a:ln>
            <a:solidFill>
              <a:srgbClr val="54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61320" y="2971800"/>
            <a:ext cx="256032" cy="256032"/>
          </a:xfrm>
          <a:prstGeom prst="ellipse">
            <a:avLst/>
          </a:prstGeom>
          <a:solidFill>
            <a:srgbClr val="5491FF"/>
          </a:solidFill>
          <a:ln>
            <a:solidFill>
              <a:srgbClr val="54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49640" y="4160520"/>
            <a:ext cx="256032" cy="256032"/>
          </a:xfrm>
          <a:prstGeom prst="ellipse">
            <a:avLst/>
          </a:prstGeom>
          <a:solidFill>
            <a:srgbClr val="5491FF"/>
          </a:solidFill>
          <a:ln>
            <a:solidFill>
              <a:srgbClr val="54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241280" y="4572000"/>
            <a:ext cx="256032" cy="256032"/>
          </a:xfrm>
          <a:prstGeom prst="ellipse">
            <a:avLst/>
          </a:prstGeom>
          <a:solidFill>
            <a:srgbClr val="5491FF"/>
          </a:solidFill>
          <a:ln>
            <a:solidFill>
              <a:srgbClr val="54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V="1">
            <a:off x="7315200" y="2359152"/>
            <a:ext cx="1600200" cy="512064"/>
          </a:xfrm>
          <a:prstGeom prst="line">
            <a:avLst/>
          </a:prstGeom>
          <a:ln w="25400">
            <a:solidFill>
              <a:srgbClr val="334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098280" y="2423160"/>
            <a:ext cx="1463040" cy="667512"/>
          </a:xfrm>
          <a:prstGeom prst="line">
            <a:avLst/>
          </a:prstGeom>
          <a:ln w="25400">
            <a:solidFill>
              <a:srgbClr val="334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315200" y="2907792"/>
            <a:ext cx="1234440" cy="1371600"/>
          </a:xfrm>
          <a:prstGeom prst="line">
            <a:avLst/>
          </a:prstGeom>
          <a:ln w="25400">
            <a:solidFill>
              <a:srgbClr val="334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05088" y="4279392"/>
            <a:ext cx="1536192" cy="411480"/>
          </a:xfrm>
          <a:prstGeom prst="line">
            <a:avLst/>
          </a:prstGeom>
          <a:ln w="25400">
            <a:solidFill>
              <a:srgbClr val="334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8705088" y="2423160"/>
            <a:ext cx="301752" cy="1856232"/>
          </a:xfrm>
          <a:prstGeom prst="line">
            <a:avLst/>
          </a:prstGeom>
          <a:ln w="25400">
            <a:solidFill>
              <a:srgbClr val="334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748272" y="2395728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AEBED2"/>
                </a:solidFill>
                <a:latin typeface="Aptos Display"/>
              </a:rPr>
              <a:t>SHIPPER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40" y="2679192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AEBED2"/>
                </a:solidFill>
                <a:latin typeface="Aptos Display"/>
              </a:rPr>
              <a:t>CARRIER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443984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AEBED2"/>
                </a:solidFill>
                <a:latin typeface="Aptos Display"/>
              </a:rPr>
              <a:t>BROKER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892040"/>
            <a:ext cx="10972800" cy="1143000"/>
          </a:xfrm>
          <a:prstGeom prst="roundRect">
            <a:avLst>
              <a:gd name="adj" fmla="val 8000"/>
            </a:avLst>
          </a:prstGeom>
          <a:solidFill>
            <a:srgbClr val="0C1E34"/>
          </a:solidFill>
          <a:ln>
            <a:solidFill>
              <a:srgbClr val="22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093208"/>
            <a:ext cx="1005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5491FF"/>
                </a:solidFill>
                <a:latin typeface="Aptos Display"/>
              </a:rPr>
              <a:t>1.56B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102352"/>
            <a:ext cx="2331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0">
                <a:solidFill>
                  <a:srgbClr val="D7E1ED"/>
                </a:solidFill>
                <a:latin typeface="Aptos Display"/>
              </a:rPr>
              <a:t>UK HGV tonnes lifted • 12 months to Mar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5093208"/>
            <a:ext cx="1005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1FAA9D"/>
                </a:solidFill>
                <a:latin typeface="Aptos Display"/>
              </a:rPr>
              <a:t>25%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5102352"/>
            <a:ext cx="2331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0">
                <a:solidFill>
                  <a:srgbClr val="D7E1ED"/>
                </a:solidFill>
                <a:latin typeface="Aptos Display"/>
              </a:rPr>
              <a:t>UK HGV businesses reporting driver vacancies • Q1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5093208"/>
            <a:ext cx="1005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DAA541"/>
                </a:solidFill>
                <a:latin typeface="Aptos Display"/>
              </a:rPr>
              <a:t>$75K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5102352"/>
            <a:ext cx="2331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0">
                <a:solidFill>
                  <a:srgbClr val="D7E1ED"/>
                </a:solidFill>
                <a:latin typeface="Aptos Display"/>
              </a:rPr>
              <a:t>US broker financial-security requirement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556248"/>
            <a:ext cx="10972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80" b="0">
                <a:solidFill>
                  <a:srgbClr val="9AA9BC"/>
                </a:solidFill>
                <a:latin typeface="Aptos Display"/>
              </a:rPr>
              <a:t>Sources: UK Department for Transport, Domestic Road Freight Statistics Apr 2025–Mar 2026; FMCSA broker requirements. citeturn0search7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38404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491FF"/>
                </a:solidFill>
                <a:latin typeface="Aptos Display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246888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5491FF"/>
                </a:solidFill>
                <a:latin typeface="Aptos Display"/>
              </a:rPr>
              <a:t>CAPITAL ALLOCATION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01D2F"/>
                </a:solidFill>
                <a:latin typeface="Aptos Display"/>
              </a:rPr>
              <a:t>$5,000 is for validation — not for buying assets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53312"/>
            <a:ext cx="10789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9" b="0">
                <a:solidFill>
                  <a:srgbClr val="5B6A7E"/>
                </a:solidFill>
                <a:latin typeface="Aptos Display"/>
              </a:rPr>
              <a:t>The objective is to prove customers, lanes and unit economics before scaling.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47088"/>
            <a:ext cx="4709160" cy="4160520"/>
          </a:xfrm>
          <a:prstGeom prst="roundRect">
            <a:avLst>
              <a:gd name="adj" fmla="val 8000"/>
            </a:avLst>
          </a:prstGeom>
          <a:solidFill>
            <a:srgbClr val="101D2F"/>
          </a:solidFill>
          <a:ln>
            <a:solidFill>
              <a:srgbClr val="101D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39696"/>
            <a:ext cx="40690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ptos Display"/>
              </a:rPr>
              <a:t>$5,000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61488"/>
            <a:ext cx="4069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A5BBD4"/>
                </a:solidFill>
                <a:latin typeface="Aptos Display"/>
              </a:rPr>
              <a:t>90-DAY TEST CAPITAL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82112"/>
            <a:ext cx="24688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60" b="0">
                <a:solidFill>
                  <a:srgbClr val="DAE3EE"/>
                </a:solidFill>
                <a:latin typeface="Aptos Display"/>
              </a:rPr>
              <a:t>Demand 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3182112"/>
            <a:ext cx="7772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80" b="1">
                <a:solidFill>
                  <a:srgbClr val="5491FF"/>
                </a:solidFill>
                <a:latin typeface="Aptos Display"/>
              </a:rPr>
              <a:t>$1,500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75304"/>
            <a:ext cx="24688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60" b="0">
                <a:solidFill>
                  <a:srgbClr val="DAE3EE"/>
                </a:solidFill>
                <a:latin typeface="Aptos Display"/>
              </a:rPr>
              <a:t>Sales stack + calling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3575304"/>
            <a:ext cx="7772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80" b="1">
                <a:solidFill>
                  <a:srgbClr val="1FAA9D"/>
                </a:solidFill>
                <a:latin typeface="Aptos Display"/>
              </a:rPr>
              <a:t>$800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68496"/>
            <a:ext cx="24688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60" b="0">
                <a:solidFill>
                  <a:srgbClr val="DAE3EE"/>
                </a:solidFill>
                <a:latin typeface="Aptos Display"/>
              </a:rPr>
              <a:t>Compliance / contracts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968496"/>
            <a:ext cx="7772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80" b="1">
                <a:solidFill>
                  <a:srgbClr val="DAA541"/>
                </a:solidFill>
                <a:latin typeface="Aptos Display"/>
              </a:rPr>
              <a:t>$700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61688"/>
            <a:ext cx="24688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60" b="0">
                <a:solidFill>
                  <a:srgbClr val="DAE3EE"/>
                </a:solidFill>
                <a:latin typeface="Aptos Display"/>
              </a:rPr>
              <a:t>Website + CRM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4361688"/>
            <a:ext cx="7772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80" b="1">
                <a:solidFill>
                  <a:srgbClr val="2E66DC"/>
                </a:solidFill>
                <a:latin typeface="Aptos Display"/>
              </a:rPr>
              <a:t>$500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754879"/>
            <a:ext cx="24688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60" b="0">
                <a:solidFill>
                  <a:srgbClr val="DAE3EE"/>
                </a:solidFill>
                <a:latin typeface="Aptos Display"/>
              </a:rPr>
              <a:t>Freight data / trials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4754879"/>
            <a:ext cx="7772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80" b="1">
                <a:solidFill>
                  <a:srgbClr val="2CA66F"/>
                </a:solidFill>
                <a:latin typeface="Aptos Display"/>
              </a:rPr>
              <a:t>$500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148071"/>
            <a:ext cx="24688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60" b="0">
                <a:solidFill>
                  <a:srgbClr val="DAE3EE"/>
                </a:solidFill>
                <a:latin typeface="Aptos Display"/>
              </a:rPr>
              <a:t>Contingency / ops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5148071"/>
            <a:ext cx="7772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80" b="1">
                <a:solidFill>
                  <a:srgbClr val="A0AEC3"/>
                </a:solidFill>
                <a:latin typeface="Aptos Display"/>
              </a:rPr>
              <a:t>$1,000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1874519"/>
            <a:ext cx="2011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E66DC"/>
                </a:solidFill>
                <a:latin typeface="Aptos Display"/>
              </a:rPr>
              <a:t>THE CEO 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2212848"/>
            <a:ext cx="50292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01D2F"/>
                </a:solidFill>
                <a:latin typeface="Aptos Display"/>
              </a:rPr>
              <a:t>Do not hide the</a:t>
            </a:r>
            <a:br/>
            <a:r>
              <a:t>regulatory constraint.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0" y="3154680"/>
            <a:ext cx="5212080" cy="11704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30" b="0">
                <a:solidFill>
                  <a:srgbClr val="5B6A7E"/>
                </a:solidFill>
                <a:latin typeface="Aptos Display"/>
              </a:rPr>
              <a:t>For a US property-broker model, FMCSA requires $75,000 of financial security. Therefore the $5K plan is a validation / agent-partner phase — not a claim that we can independently launch a fully authorized brokerage for $5K.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15000" y="4590288"/>
            <a:ext cx="530352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89320" y="4791456"/>
            <a:ext cx="685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5491FF"/>
                </a:solidFill>
                <a:latin typeface="Aptos Display"/>
              </a:rPr>
              <a:t>PHASE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8272" y="4736592"/>
            <a:ext cx="3886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9" b="1">
                <a:solidFill>
                  <a:srgbClr val="101D2F"/>
                </a:solidFill>
                <a:latin typeface="Aptos Display"/>
              </a:rPr>
              <a:t>Licensed-broker partner → first customers → repeat lanes → authority / financing milestone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0" y="5833872"/>
            <a:ext cx="5212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5B6A7E"/>
                </a:solidFill>
                <a:latin typeface="Aptos Display"/>
              </a:rPr>
              <a:t>Team: Founder (sales)  +  VA (carrier sourcing)  +  part-time ops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556248"/>
            <a:ext cx="10972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80" b="0">
                <a:solidFill>
                  <a:srgbClr val="5B6A7E"/>
                </a:solidFill>
                <a:latin typeface="Aptos Display"/>
              </a:rPr>
              <a:t>FMCSA broker registration / financial responsibility is the gating constraint for independent US brokerage. The deck intentionally separates validation capital from regulatory capital.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38404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491FF"/>
                </a:solidFill>
                <a:latin typeface="Aptos Display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246888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5491FF"/>
                </a:solidFill>
                <a:latin typeface="Aptos Display"/>
              </a:rPr>
              <a:t>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01D2F"/>
                </a:solidFill>
                <a:latin typeface="Aptos Display"/>
              </a:rPr>
              <a:t>The first 10 customers are a sales-engine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53312"/>
            <a:ext cx="10789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9" b="0">
                <a:solidFill>
                  <a:srgbClr val="5B6A7E"/>
                </a:solidFill>
                <a:latin typeface="Aptos Display"/>
              </a:rPr>
              <a:t>One niche. One offer. One repeatable cadence — measured every week.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74519"/>
            <a:ext cx="2468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E66DC"/>
                </a:solidFill>
                <a:latin typeface="Aptos Display"/>
              </a:rPr>
              <a:t>THE ACQUISITION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240280"/>
            <a:ext cx="1874519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386584"/>
            <a:ext cx="1645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2E66DC"/>
                </a:solidFill>
                <a:latin typeface="Aptos Display"/>
              </a:rPr>
              <a:t>300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743200"/>
            <a:ext cx="1645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40" b="1">
                <a:solidFill>
                  <a:srgbClr val="5B6A7E"/>
                </a:solidFill>
                <a:latin typeface="Aptos Display"/>
              </a:rPr>
              <a:t>TARGET ACCOUNTS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96312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5B6A7E"/>
                </a:solidFill>
                <a:latin typeface="Aptos Display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7208" y="2240280"/>
            <a:ext cx="1874519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16936" y="2386584"/>
            <a:ext cx="1645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2E66DC"/>
                </a:solidFill>
                <a:latin typeface="Aptos Display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16936" y="2743200"/>
            <a:ext cx="1645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40" b="1">
                <a:solidFill>
                  <a:srgbClr val="5B6A7E"/>
                </a:solidFill>
                <a:latin typeface="Aptos Display"/>
              </a:rPr>
              <a:t>DAILY TOUCHES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496312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5B6A7E"/>
                </a:solidFill>
                <a:latin typeface="Aptos Display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7488" y="2240280"/>
            <a:ext cx="1874519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57216" y="2386584"/>
            <a:ext cx="1645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2E66DC"/>
                </a:solidFill>
                <a:latin typeface="Aptos Display"/>
              </a:rPr>
              <a:t>15–25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57216" y="2743200"/>
            <a:ext cx="1645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40" b="1">
                <a:solidFill>
                  <a:srgbClr val="5B6A7E"/>
                </a:solidFill>
                <a:latin typeface="Aptos Display"/>
              </a:rPr>
              <a:t>CONVERSATIONS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496312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5B6A7E"/>
                </a:solidFill>
                <a:latin typeface="Aptos Display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87768" y="2240280"/>
            <a:ext cx="1874519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97496" y="2386584"/>
            <a:ext cx="1645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2E66DC"/>
                </a:solidFill>
                <a:latin typeface="Aptos Display"/>
              </a:rPr>
              <a:t>5–8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97496" y="2743200"/>
            <a:ext cx="1645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40" b="1">
                <a:solidFill>
                  <a:srgbClr val="5B6A7E"/>
                </a:solidFill>
                <a:latin typeface="Aptos Display"/>
              </a:rPr>
              <a:t>QUALIFIED OPS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496312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5B6A7E"/>
                </a:solidFill>
                <a:latin typeface="Aptos Display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28048" y="2240280"/>
            <a:ext cx="1874519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37776" y="2386584"/>
            <a:ext cx="1645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2E66DC"/>
                </a:solidFill>
                <a:latin typeface="Aptos Display"/>
              </a:rPr>
              <a:t>1–2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37776" y="2743200"/>
            <a:ext cx="1645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40" b="1">
                <a:solidFill>
                  <a:srgbClr val="5B6A7E"/>
                </a:solidFill>
                <a:latin typeface="Aptos Display"/>
              </a:rPr>
              <a:t>NEW CUSTOMERS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3566160"/>
            <a:ext cx="20116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E66DC"/>
                </a:solidFill>
                <a:latin typeface="Aptos Display"/>
              </a:rPr>
              <a:t>CHANNEL PLAYBOOK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3950208"/>
            <a:ext cx="2487168" cy="1417320"/>
          </a:xfrm>
          <a:prstGeom prst="roundRect">
            <a:avLst>
              <a:gd name="adj" fmla="val 8000"/>
            </a:avLst>
          </a:prstGeom>
          <a:solidFill>
            <a:srgbClr val="101D2F"/>
          </a:solidFill>
          <a:ln>
            <a:solidFill>
              <a:srgbClr val="101D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4169663"/>
            <a:ext cx="2103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491FF"/>
                </a:solidFill>
                <a:latin typeface="Aptos Display"/>
              </a:rPr>
              <a:t>COLD CALL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4498848"/>
            <a:ext cx="2103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ptos Display"/>
              </a:rPr>
              <a:t>Pain-first question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4956048"/>
            <a:ext cx="2103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B3C3D7"/>
                </a:solidFill>
                <a:latin typeface="Aptos Display"/>
              </a:rPr>
              <a:t>20/day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55848" y="3950208"/>
            <a:ext cx="2487168" cy="1417320"/>
          </a:xfrm>
          <a:prstGeom prst="roundRect">
            <a:avLst>
              <a:gd name="adj" fmla="val 8000"/>
            </a:avLst>
          </a:prstGeom>
          <a:solidFill>
            <a:srgbClr val="101D2F"/>
          </a:solidFill>
          <a:ln>
            <a:solidFill>
              <a:srgbClr val="101D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38728" y="4169663"/>
            <a:ext cx="2103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491FF"/>
                </a:solidFill>
                <a:latin typeface="Aptos Display"/>
              </a:rPr>
              <a:t>EMAIL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38728" y="4498848"/>
            <a:ext cx="2103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ptos Display"/>
              </a:rPr>
              <a:t>Lane-specific offer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38728" y="4956048"/>
            <a:ext cx="2103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B3C3D7"/>
                </a:solidFill>
                <a:latin typeface="Aptos Display"/>
              </a:rPr>
              <a:t>30/day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44768" y="3950208"/>
            <a:ext cx="2487168" cy="1417320"/>
          </a:xfrm>
          <a:prstGeom prst="roundRect">
            <a:avLst>
              <a:gd name="adj" fmla="val 8000"/>
            </a:avLst>
          </a:prstGeom>
          <a:solidFill>
            <a:srgbClr val="101D2F"/>
          </a:solidFill>
          <a:ln>
            <a:solidFill>
              <a:srgbClr val="101D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27648" y="4169663"/>
            <a:ext cx="2103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491FF"/>
                </a:solidFill>
                <a:latin typeface="Aptos Display"/>
              </a:rPr>
              <a:t>LINKEDIN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4498848"/>
            <a:ext cx="2103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ptos Display"/>
              </a:rPr>
              <a:t>Decision-maker trust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27648" y="4956048"/>
            <a:ext cx="2103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B3C3D7"/>
                </a:solidFill>
                <a:latin typeface="Aptos Display"/>
              </a:rPr>
              <a:t>10/day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33687" y="3950208"/>
            <a:ext cx="2487168" cy="1417320"/>
          </a:xfrm>
          <a:prstGeom prst="roundRect">
            <a:avLst>
              <a:gd name="adj" fmla="val 8000"/>
            </a:avLst>
          </a:prstGeom>
          <a:solidFill>
            <a:srgbClr val="101D2F"/>
          </a:solidFill>
          <a:ln>
            <a:solidFill>
              <a:srgbClr val="101D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16567" y="4169663"/>
            <a:ext cx="2103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491FF"/>
                </a:solidFill>
                <a:latin typeface="Aptos Display"/>
              </a:rPr>
              <a:t>PARTNERS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16567" y="4498848"/>
            <a:ext cx="2103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ptos Display"/>
              </a:rPr>
              <a:t>Warm introductions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16567" y="4956048"/>
            <a:ext cx="2103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B3C3D7"/>
                </a:solidFill>
                <a:latin typeface="Aptos Display"/>
              </a:rPr>
              <a:t>5/week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562356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E6EEFA"/>
          </a:solidFill>
          <a:ln>
            <a:solidFill>
              <a:srgbClr val="CAD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5742432"/>
            <a:ext cx="10058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2E66DC"/>
                </a:solidFill>
                <a:latin typeface="Aptos Display"/>
              </a:rPr>
              <a:t>CLOSE WITH: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0" y="5696712"/>
            <a:ext cx="92354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1">
                <a:solidFill>
                  <a:srgbClr val="101D2F"/>
                </a:solidFill>
                <a:latin typeface="Aptos Display"/>
              </a:rPr>
              <a:t>“Give me one lane. I’ll quote it, source the capacity and show you how we communicate during the shipment.”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6556248"/>
            <a:ext cx="10972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80" b="0">
                <a:solidFill>
                  <a:srgbClr val="5B6A7E"/>
                </a:solidFill>
                <a:latin typeface="Aptos Display"/>
              </a:rPr>
              <a:t>Planning assumptions, not guaranteed conversion rates. The operating principle is to instrument every stage and improve the weakest conversion point weekly.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38404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491FF"/>
                </a:solidFill>
                <a:latin typeface="Aptos Display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246888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5491FF"/>
                </a:solidFill>
                <a:latin typeface="Aptos Display"/>
              </a:rPr>
              <a:t>UNIT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 Display"/>
              </a:rPr>
              <a:t>A clean path to $10K/month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53312"/>
            <a:ext cx="10789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9" b="0">
                <a:solidFill>
                  <a:srgbClr val="AEBED2"/>
                </a:solidFill>
                <a:latin typeface="Aptos Display"/>
              </a:rPr>
              <a:t>Revenue is not the headline — gross margin per load 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74519"/>
            <a:ext cx="2286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491FF"/>
                </a:solidFill>
                <a:latin typeface="Aptos Display"/>
              </a:rPr>
              <a:t>ILLUSTRATIVE FTL 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67712"/>
            <a:ext cx="2194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AEBED2"/>
                </a:solidFill>
                <a:latin typeface="Aptos Display"/>
              </a:rPr>
              <a:t>SHIPPER INVOICE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267712"/>
            <a:ext cx="1417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Aptos Display"/>
              </a:rPr>
              <a:t>$2,000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89504"/>
            <a:ext cx="2194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AEBED2"/>
                </a:solidFill>
                <a:latin typeface="Aptos Display"/>
              </a:rPr>
              <a:t>CARRIER PAY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889504"/>
            <a:ext cx="1417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>
                <a:solidFill>
                  <a:srgbClr val="BDCCDE"/>
                </a:solidFill>
                <a:latin typeface="Aptos Display"/>
              </a:rPr>
              <a:t>−$1,700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11296"/>
            <a:ext cx="2194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AEBED2"/>
                </a:solidFill>
                <a:latin typeface="Aptos Display"/>
              </a:rPr>
              <a:t>BROKER GROSS MARGIN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511296"/>
            <a:ext cx="1417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>
                <a:solidFill>
                  <a:srgbClr val="69E1AF"/>
                </a:solidFill>
                <a:latin typeface="Aptos Display"/>
              </a:rPr>
              <a:t>$300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4360" y="4224528"/>
            <a:ext cx="4251960" cy="0"/>
          </a:xfrm>
          <a:prstGeom prst="line">
            <a:avLst/>
          </a:prstGeom>
          <a:ln w="12700">
            <a:solidFill>
              <a:srgbClr val="3044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94360" y="448056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5491FF"/>
                </a:solidFill>
                <a:latin typeface="Aptos Display"/>
              </a:rPr>
              <a:t>15%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617720"/>
            <a:ext cx="20116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C4D2E1"/>
                </a:solidFill>
                <a:latin typeface="Aptos Display"/>
              </a:rPr>
              <a:t>target gross margin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0" y="1847088"/>
            <a:ext cx="5897880" cy="4069080"/>
          </a:xfrm>
          <a:prstGeom prst="roundRect">
            <a:avLst>
              <a:gd name="adj" fmla="val 8000"/>
            </a:avLst>
          </a:prstGeom>
          <a:solidFill>
            <a:srgbClr val="0C2238"/>
          </a:solidFill>
          <a:ln>
            <a:solidFill>
              <a:srgbClr val="27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25312" y="2148840"/>
            <a:ext cx="32918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491FF"/>
                </a:solidFill>
                <a:latin typeface="Aptos Display"/>
              </a:rPr>
              <a:t>THE $10K/MONTH EQUATION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25312" y="2578608"/>
            <a:ext cx="1143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 Display"/>
              </a:rPr>
              <a:t>34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770632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ECFE1"/>
                </a:solidFill>
                <a:latin typeface="Aptos Display"/>
              </a:rPr>
              <a:t>loads /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69748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>
                <a:solidFill>
                  <a:srgbClr val="69E1AF"/>
                </a:solidFill>
                <a:latin typeface="Aptos Display"/>
              </a:rPr>
              <a:t>×  $300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25312" y="3401568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≈ $10,200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3557016"/>
            <a:ext cx="2468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BECFE1"/>
                </a:solidFill>
                <a:latin typeface="Aptos Display"/>
              </a:rPr>
              <a:t>brokerage gross margin / month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25312" y="4251960"/>
            <a:ext cx="19202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 Display"/>
              </a:rPr>
              <a:t>8 active shippers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4251960"/>
            <a:ext cx="2103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BECFE1"/>
                </a:solidFill>
                <a:latin typeface="Aptos Display"/>
              </a:rPr>
              <a:t>× ~4–5 loads each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25312" y="4800600"/>
            <a:ext cx="1828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5491FF"/>
                </a:solidFill>
                <a:latin typeface="Aptos Display"/>
              </a:rPr>
              <a:t>MONTHLY COST TARGET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25312" y="5102352"/>
            <a:ext cx="5074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0">
                <a:solidFill>
                  <a:srgbClr val="BECFE1"/>
                </a:solidFill>
                <a:latin typeface="Aptos Display"/>
              </a:rPr>
              <a:t>Sales/data  $900   •   People/ops  $1,500   •   Software  $400   •   Legal/insurance/misc.  $500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556248"/>
            <a:ext cx="10972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80" b="0">
                <a:solidFill>
                  <a:srgbClr val="9AA9BC"/>
                </a:solidFill>
                <a:latin typeface="Aptos Display"/>
              </a:rPr>
              <a:t>Illustrative model. Actual lane rates, carrier pay, accessorials, insurance and operating costs vary. $10K target is brokerage gross margin before operating costs.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38404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491FF"/>
                </a:solidFill>
                <a:latin typeface="Aptos Display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246888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5491FF"/>
                </a:solidFill>
                <a:latin typeface="Aptos Display"/>
              </a:rPr>
              <a:t>90-DAY INVESTMENT MEMO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 Display"/>
              </a:rPr>
              <a:t>Launch → prove →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53312"/>
            <a:ext cx="10789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9" b="0">
                <a:solidFill>
                  <a:srgbClr val="AEBED2"/>
                </a:solidFill>
                <a:latin typeface="Aptos Display"/>
              </a:rPr>
              <a:t>The investment decision is earned by evidence, not optimism.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38528"/>
            <a:ext cx="3337560" cy="2057400"/>
          </a:xfrm>
          <a:prstGeom prst="roundRect">
            <a:avLst>
              <a:gd name="adj" fmla="val 8000"/>
            </a:avLst>
          </a:prstGeom>
          <a:solidFill>
            <a:srgbClr val="0C1F34"/>
          </a:solidFill>
          <a:ln>
            <a:solidFill>
              <a:srgbClr val="26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194560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5491FF"/>
                </a:solidFill>
                <a:latin typeface="Aptos Display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2194560"/>
            <a:ext cx="1920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 Display"/>
              </a:rPr>
              <a:t>LAUNCH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743200"/>
            <a:ext cx="2743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CCD8E7"/>
                </a:solidFill>
                <a:latin typeface="Aptos Display"/>
              </a:rPr>
              <a:t>300 accounts</a:t>
            </a:r>
            <a:br/>
            <a:r>
              <a:t>First 5 loads</a:t>
            </a:r>
            <a:br/>
            <a:r>
              <a:t>Broker partner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22776" y="2743200"/>
            <a:ext cx="274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6682A1"/>
                </a:solidFill>
                <a:latin typeface="Aptos Display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0248" y="1938528"/>
            <a:ext cx="3337560" cy="2057400"/>
          </a:xfrm>
          <a:prstGeom prst="roundRect">
            <a:avLst>
              <a:gd name="adj" fmla="val 8000"/>
            </a:avLst>
          </a:prstGeom>
          <a:solidFill>
            <a:srgbClr val="0C1F34"/>
          </a:solidFill>
          <a:ln>
            <a:solidFill>
              <a:srgbClr val="26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2194560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FAA9D"/>
                </a:solidFill>
                <a:latin typeface="Aptos Display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93208" y="2194560"/>
            <a:ext cx="1920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 Display"/>
              </a:rPr>
              <a:t>PROVE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2743200"/>
            <a:ext cx="2743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CCD8E7"/>
                </a:solidFill>
                <a:latin typeface="Aptos Display"/>
              </a:rPr>
              <a:t>18 loads</a:t>
            </a:r>
            <a:br/>
            <a:r>
              <a:t>3–5 active shippers</a:t>
            </a:r>
            <a:br/>
            <a:r>
              <a:t>Repeat lanes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6096" y="2743200"/>
            <a:ext cx="274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6682A1"/>
                </a:solidFill>
                <a:latin typeface="Aptos Display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73567" y="1938528"/>
            <a:ext cx="3337560" cy="2057400"/>
          </a:xfrm>
          <a:prstGeom prst="roundRect">
            <a:avLst>
              <a:gd name="adj" fmla="val 8000"/>
            </a:avLst>
          </a:prstGeom>
          <a:solidFill>
            <a:srgbClr val="0C1F34"/>
          </a:solidFill>
          <a:ln>
            <a:solidFill>
              <a:srgbClr val="26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2167" y="2194560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DAA541"/>
                </a:solidFill>
                <a:latin typeface="Aptos Display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96528" y="2194560"/>
            <a:ext cx="1920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 Display"/>
              </a:rPr>
              <a:t>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7" y="2743200"/>
            <a:ext cx="2743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CCD8E7"/>
                </a:solidFill>
                <a:latin typeface="Aptos Display"/>
              </a:rPr>
              <a:t>34 loads</a:t>
            </a:r>
            <a:br/>
            <a:r>
              <a:t>8 active shippers</a:t>
            </a:r>
            <a:br/>
            <a:r>
              <a:t>$10K gross margin target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07408"/>
            <a:ext cx="10972800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4645152"/>
            <a:ext cx="1828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E66DC"/>
                </a:solidFill>
                <a:latin typeface="Aptos Display"/>
              </a:rPr>
              <a:t>WHY THIS BUSINESS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590288"/>
            <a:ext cx="1417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01D2F"/>
                </a:solidFill>
                <a:latin typeface="Aptos Display"/>
              </a:rPr>
              <a:t>Asset-light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590288"/>
            <a:ext cx="1737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01D2F"/>
                </a:solidFill>
                <a:latin typeface="Aptos Display"/>
              </a:rPr>
              <a:t>Recurring demand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4590288"/>
            <a:ext cx="1600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01D2F"/>
                </a:solidFill>
                <a:latin typeface="Aptos Display"/>
              </a:rPr>
              <a:t>Network effects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73568" y="4590288"/>
            <a:ext cx="1645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01D2F"/>
                </a:solidFill>
                <a:latin typeface="Aptos Display"/>
              </a:rPr>
              <a:t>Measurable GTM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57232" y="4590288"/>
            <a:ext cx="1417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01D2F"/>
                </a:solidFill>
                <a:latin typeface="Aptos Display"/>
              </a:rPr>
              <a:t>Low fixed capex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5074920"/>
            <a:ext cx="6035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E66DC"/>
                </a:solidFill>
                <a:latin typeface="Aptos Display"/>
              </a:rPr>
              <a:t>Scale only after the numbers work.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080760"/>
            <a:ext cx="6858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5491FF"/>
                </a:solidFill>
                <a:latin typeface="Aptos Display"/>
              </a:rPr>
              <a:t>THE ASK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53312" y="6007608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20" b="1">
                <a:solidFill>
                  <a:srgbClr val="FFFFFF"/>
                </a:solidFill>
                <a:latin typeface="Aptos Display"/>
              </a:rPr>
              <a:t>Back the 90-day experiment. If the funnel converts, reinvest. If it doesn’t, change the niche — before increasing capital.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556248"/>
            <a:ext cx="10972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80" b="0">
                <a:solidFill>
                  <a:srgbClr val="9AA9BC"/>
                </a:solidFill>
                <a:latin typeface="Aptos Display"/>
              </a:rPr>
              <a:t>Latest UK market evidence: DfT reports 1.56B tonnes lifted in the 12 months ending March 2026 and 25% of HGV businesses reporting driver vacancies in Q1 2026. citeturn0search7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
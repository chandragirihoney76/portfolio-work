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01 | BUSINESS &amp;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SolarSet — a measurable sales pipeline for solar installers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9182B"/>
                </a:solidFill>
                <a:latin typeface="Aptos"/>
              </a:defRPr>
            </a:pPr>
            <a:r>
              <a:t>We do not sell solar panels. We sell qualified conversations with homeowners and businesses already considering solar.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38528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5B9E"/>
                </a:solidFill>
                <a:latin typeface="Aptos"/>
              </a:defRPr>
            </a:pPr>
            <a:r>
              <a:t>43.1 GW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US solar installed in 2025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938528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89794"/>
                </a:solidFill>
                <a:latin typeface="Aptos"/>
              </a:defRPr>
            </a:pPr>
            <a:r>
              <a:t>269,000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UK solar installations in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938528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68E5C"/>
                </a:solidFill>
                <a:latin typeface="Aptos"/>
              </a:defRPr>
            </a:pPr>
            <a:r>
              <a:t>6M+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US cumulative installations by Q1 2026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0" y="1938528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06840" y="204825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9930"/>
                </a:solidFill>
                <a:latin typeface="Aptos"/>
              </a:defRPr>
            </a:pPr>
            <a:r>
              <a:t>30–35%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4688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SolarReviews appointment-set benchmark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154680"/>
            <a:ext cx="3520440" cy="269748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3154680"/>
            <a:ext cx="54864" cy="269748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7" y="33009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BUSINESS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7" y="3721608"/>
            <a:ext cx="31546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B2B appointment-setting agency.</a:t>
            </a:r>
            <a:br/>
            <a:br/>
            <a:r>
              <a:t>Target: residential/commercial solar installers in selected US states and UK regions.</a:t>
            </a:r>
            <a:br/>
            <a:br/>
            <a:r>
              <a:t>Deliverable: qualified appointment → calendar booking → CRM report.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5968" y="3154680"/>
            <a:ext cx="3520440" cy="269748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54864" cy="269748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17136" y="33009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CUSTOMER PAIN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3721608"/>
            <a:ext cx="31546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Installers need a steady sales pipeline but cannot rely only on referrals or expensive paid leads.</a:t>
            </a:r>
            <a:br/>
            <a:br/>
            <a:r>
              <a:t>SolarReviews reports lead costs can range from $25–$300 depending on source and market, making quality and conversion critical.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91856" y="3154680"/>
            <a:ext cx="3520440" cy="269748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91856" y="3154680"/>
            <a:ext cx="54864" cy="269748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3024" y="33009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3 COMPETITORS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93024" y="3721608"/>
            <a:ext cx="3154680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SolarReviews — lead marketplace</a:t>
            </a:r>
            <a:br/>
            <a:r>
              <a:t>EnergySage — installer marketplace + sales tools</a:t>
            </a:r>
            <a:br/>
            <a:r>
              <a:t>Solar Exclusive / specialist lead agencies — dedicated lead programs</a:t>
            </a:r>
            <a:br/>
            <a:br/>
            <a:r>
              <a:t>Our wedge: smaller installers + outbound + qualification + reporting.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473952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B6978"/>
                </a:solidFill>
                <a:latin typeface="Aptos"/>
              </a:defRPr>
            </a:pPr>
            <a:r>
              <a:t>Sources: SEIA Solar Market Insight 2025/2026; UK Government, May 2026; SolarReviews; EnergySage. Targets shown are operating assumptions.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02 | STARTUP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Start lean with $5,000 — prove demand before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657600" cy="475488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475488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USE OF FUNDS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29184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$1,000  Prospect data + verification</a:t>
            </a:r>
            <a:br/>
            <a:r>
              <a:t>$750    CRM, email, calling &amp; scheduling</a:t>
            </a:r>
            <a:br/>
            <a:r>
              <a:t>$450    Website, domain &amp; brand assets</a:t>
            </a:r>
            <a:br/>
            <a:r>
              <a:t>$1,100  Outreach/paid-test budget</a:t>
            </a:r>
            <a:br/>
            <a:r>
              <a:t>$900    Part-time setter / VA support</a:t>
            </a:r>
            <a:br/>
            <a:r>
              <a:t>$800    Reserve &amp; compliance/admin</a:t>
            </a:r>
            <a:br/>
            <a:br/>
            <a:r>
              <a:t>TOTAL = $5,000</a:t>
            </a:r>
            <a:br/>
            <a:br/>
            <a:r>
              <a:t>Principle: protect cash until the first repeatable acquisition channel is proven.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325880"/>
            <a:ext cx="3337560" cy="475488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325880"/>
            <a:ext cx="54864" cy="475488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472184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LEAN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1892807"/>
            <a:ext cx="297180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FOUNDER / SALES LEAD</a:t>
            </a:r>
            <a:br/>
            <a:r>
              <a:t>• niche + offer</a:t>
            </a:r>
            <a:br/>
            <a:r>
              <a:t>• demos + closing</a:t>
            </a:r>
            <a:br/>
            <a:r>
              <a:t>• client success</a:t>
            </a:r>
            <a:br/>
            <a:br/>
            <a:r>
              <a:t>APPOINTMENT SETTER</a:t>
            </a:r>
            <a:br/>
            <a:r>
              <a:t>• calls</a:t>
            </a:r>
            <a:br/>
            <a:r>
              <a:t>• email follow-up</a:t>
            </a:r>
            <a:br/>
            <a:r>
              <a:t>• qualification</a:t>
            </a:r>
            <a:br/>
            <a:br/>
            <a:r>
              <a:t>FREELANCE OPS</a:t>
            </a:r>
            <a:br/>
            <a:r>
              <a:t>• lists</a:t>
            </a:r>
            <a:br/>
            <a:r>
              <a:t>• CRM hygiene</a:t>
            </a:r>
            <a:br/>
            <a:r>
              <a:t>• weekly reporting</a:t>
            </a:r>
            <a:br/>
            <a:br/>
            <a:r>
              <a:t>No office. Remote-first.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325880"/>
            <a:ext cx="3520440" cy="475488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01000" y="1325880"/>
            <a:ext cx="54864" cy="475488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4721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STACK +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2168" y="1892807"/>
            <a:ext cx="3154680" cy="4041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CRM: HubSpot / Pipedrive</a:t>
            </a:r>
            <a:br/>
            <a:r>
              <a:t>Prospecting: LinkedIn + verified business data</a:t>
            </a:r>
            <a:br/>
            <a:r>
              <a:t>Email: Google Workspace + sequencer</a:t>
            </a:r>
            <a:br/>
            <a:r>
              <a:t>Calls: business VoIP + tracking</a:t>
            </a:r>
            <a:br/>
            <a:r>
              <a:t>Calendar: Calendly</a:t>
            </a:r>
            <a:br/>
            <a:r>
              <a:t>Reporting: CRM dashboard</a:t>
            </a:r>
            <a:br/>
            <a:br/>
            <a:r>
              <a:t>NON-NEGOTIABLE:</a:t>
            </a:r>
            <a:br/>
            <a:r>
              <a:t>Respect applicable telemarketing, consent, privacy and email rules in each target market. Do not use purchased consumer phone lists for indiscriminate outreach.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B6978"/>
                </a:solidFill>
                <a:latin typeface="Aptos"/>
              </a:defRPr>
            </a:pPr>
            <a:r>
              <a:t>Budget is a proposed startup allocation, not a quoted vendor-cost claim. Compliance point is a business-control requirement.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03 | SALES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First 10 customers — a focused outbound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470916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470916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TARGET 500 ACCOUNTS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15468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Build a list of installers by territory.</a:t>
            </a:r>
            <a:br/>
            <a:br/>
            <a:r>
              <a:t>Prioritize companies with:</a:t>
            </a:r>
            <a:br/>
            <a:r>
              <a:t>• active residential sales</a:t>
            </a:r>
            <a:br/>
            <a:r>
              <a:t>• strong reviews</a:t>
            </a:r>
            <a:br/>
            <a:r>
              <a:t>• clear service areas</a:t>
            </a:r>
            <a:br/>
            <a:r>
              <a:t>• sales hiring activity</a:t>
            </a:r>
            <a:br/>
            <a:r>
              <a:t>• weak/inconsistent outbound</a:t>
            </a:r>
            <a:br/>
            <a:br/>
            <a:r>
              <a:t>Personalize each account around its territory, offer and growth signal.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70916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4864" cy="470916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721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DAILY ACTIVITY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5468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50–75 targeted calls</a:t>
            </a:r>
            <a:br/>
            <a:r>
              <a:t>40–60 personalized emails</a:t>
            </a:r>
            <a:br/>
            <a:r>
              <a:t>20–30 LinkedIn touches</a:t>
            </a:r>
            <a:br/>
            <a:br/>
            <a:r>
              <a:t>Use a 5–7 touch sequence.</a:t>
            </a:r>
            <a:br/>
            <a:br/>
            <a:r>
              <a:t>Opening offer:</a:t>
            </a:r>
            <a:br/>
            <a:r>
              <a:t>“Let us run a 30-day pilot designed to create qualified solar sales appointments. If the meetings are not qualified, we diagnose the funnel rather than just sending more leads.”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470916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54864" cy="470916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721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FUNNEL TO 10 CLIENTS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92807"/>
            <a:ext cx="310896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500 target accounts</a:t>
            </a:r>
            <a:br/>
            <a:r>
              <a:t>↓</a:t>
            </a:r>
            <a:br/>
            <a:r>
              <a:t>75 meaningful conversations</a:t>
            </a:r>
            <a:br/>
            <a:r>
              <a:t>↓</a:t>
            </a:r>
            <a:br/>
            <a:r>
              <a:t>25 sales demos</a:t>
            </a:r>
            <a:br/>
            <a:r>
              <a:t>↓</a:t>
            </a:r>
            <a:br/>
            <a:r>
              <a:t>10 pilot customers</a:t>
            </a:r>
            <a:br/>
            <a:br/>
            <a:r>
              <a:t>Illustrative conversion assumptions—not guarantees.</a:t>
            </a:r>
            <a:br/>
            <a:br/>
            <a:r>
              <a:t>Channels after proof:</a:t>
            </a:r>
            <a:br/>
            <a:r>
              <a:t>referrals • solar consultants • web agencies • financing/industry partners.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B6978"/>
                </a:solidFill>
                <a:latin typeface="Aptos"/>
              </a:defRPr>
            </a:pPr>
            <a:r>
              <a:t>Benchmark context: SolarReviews reports ~75–80% contact rate and 30–35% appointment-set rate for its verified lead buyers; our B2B acquisition funnel is a separate operating assumption.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04 | MONEY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$10,000/month is an account-count problem — not a huge-company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3560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25B9E"/>
                </a:solidFill>
                <a:latin typeface="Aptos"/>
              </a:defRPr>
            </a:pPr>
            <a:r>
              <a:t>$1,250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56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Growth plan /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325880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43560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89794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856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Active Growth clients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325880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143560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68E5C"/>
                </a:solidFill>
                <a:latin typeface="Aptos"/>
              </a:defRPr>
            </a:pPr>
            <a:r>
              <a:t>$10,000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56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Monthly revenue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325880"/>
            <a:ext cx="2560320" cy="96012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435607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C9930"/>
                </a:solidFill>
                <a:latin typeface="Aptos"/>
              </a:defRPr>
            </a:pPr>
            <a:r>
              <a:t>~$4,000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1856231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5B6978"/>
                </a:solidFill>
                <a:latin typeface="Aptos"/>
              </a:defRPr>
            </a:pPr>
            <a:r>
              <a:t>Illustrative monthly opex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560320"/>
            <a:ext cx="352044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560320"/>
            <a:ext cx="54864" cy="342900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270662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OFFER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127248"/>
            <a:ext cx="315468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30-day pilot: $750</a:t>
            </a:r>
            <a:br/>
            <a:r>
              <a:t>• up to 10 qualified appointments</a:t>
            </a:r>
            <a:br/>
            <a:r>
              <a:t>• weekly reporting</a:t>
            </a:r>
            <a:br/>
            <a:r>
              <a:t>• CRM/calendar integration</a:t>
            </a:r>
            <a:br/>
            <a:br/>
            <a:r>
              <a:t>Growth: $1,250/month</a:t>
            </a:r>
            <a:br/>
            <a:r>
              <a:t>• up to 20 qualified appointments</a:t>
            </a:r>
            <a:br/>
            <a:r>
              <a:t>• weekly optimization</a:t>
            </a:r>
            <a:br/>
            <a:r>
              <a:t>• priority support</a:t>
            </a:r>
            <a:br/>
            <a:br/>
            <a:r>
              <a:t>Performance alternative: $75–$125 per attended qualified appointment, depending on market and scope.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2560320"/>
            <a:ext cx="352044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43400" y="2560320"/>
            <a:ext cx="54864" cy="342900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270662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MONTHLY COST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3127248"/>
            <a:ext cx="315468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Setter/VA: $2,000</a:t>
            </a:r>
            <a:br/>
            <a:r>
              <a:t>Software/data: $700</a:t>
            </a:r>
            <a:br/>
            <a:r>
              <a:t>Calling/email: $500</a:t>
            </a:r>
            <a:br/>
            <a:r>
              <a:t>Testing/ads: $500</a:t>
            </a:r>
            <a:br/>
            <a:r>
              <a:t>Admin/other: $300</a:t>
            </a:r>
            <a:br/>
            <a:br/>
            <a:r>
              <a:t>Illustrative total: $4,000</a:t>
            </a:r>
            <a:br/>
            <a:br/>
            <a:r>
              <a:t>Contribution before tax: ~$6,000 at $10k revenue.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2560320"/>
            <a:ext cx="3474720" cy="342900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2560320"/>
            <a:ext cx="54864" cy="342900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27066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PATH TO $10K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3127248"/>
            <a:ext cx="3108960" cy="271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Month 1 → 1–2 clients</a:t>
            </a:r>
            <a:br/>
            <a:r>
              <a:t>Month 2 → 3–5 clients</a:t>
            </a:r>
            <a:br/>
            <a:r>
              <a:t>Month 3 → 6–8 clients</a:t>
            </a:r>
            <a:br/>
            <a:br/>
            <a:r>
              <a:t>The real KPI is not “leads sent.”</a:t>
            </a:r>
            <a:br/>
            <a:br/>
            <a:r>
              <a:t>Track:</a:t>
            </a:r>
            <a:br/>
            <a:r>
              <a:t>• qualified appointments</a:t>
            </a:r>
            <a:br/>
            <a:r>
              <a:t>• show rate</a:t>
            </a:r>
            <a:br/>
            <a:r>
              <a:t>• opportunities created</a:t>
            </a:r>
            <a:br/>
            <a:r>
              <a:t>• client close rate</a:t>
            </a:r>
            <a:br/>
            <a:r>
              <a:t>• renewal rate</a:t>
            </a:r>
            <a:br/>
            <a:br/>
            <a:r>
              <a:t>Scale only when unit economics hold.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473952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B6978"/>
                </a:solidFill>
                <a:latin typeface="Aptos"/>
              </a:defRPr>
            </a:pPr>
            <a:r>
              <a:t>Financial model is illustrative and intentionally conservative; pricing must be validated in the first 30-day pilot.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125B9E"/>
                </a:solidFill>
                <a:latin typeface="Aptos"/>
              </a:defRPr>
            </a:pPr>
            <a:r>
              <a:t>05 | 90-DAY PLAN + INVESTMENT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700" b="1">
                <a:solidFill>
                  <a:srgbClr val="09182B"/>
                </a:solidFill>
                <a:latin typeface="Aptos"/>
              </a:defRPr>
            </a:pPr>
            <a:r>
              <a:t>90 days to proof — then scale what works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520440" cy="470916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4709160"/>
          </a:xfrm>
          <a:prstGeom prst="rect">
            <a:avLst/>
          </a:prstGeom>
          <a:solidFill>
            <a:srgbClr val="125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4721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 1 — LAUNCH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1892807"/>
            <a:ext cx="315468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WEEK 1</a:t>
            </a:r>
            <a:br/>
            <a:r>
              <a:t>Offer, landing page, CRM, scripts</a:t>
            </a:r>
            <a:br/>
            <a:br/>
            <a:r>
              <a:t>WEEK 2</a:t>
            </a:r>
            <a:br/>
            <a:r>
              <a:t>500-account prospect list + QA</a:t>
            </a:r>
            <a:br/>
            <a:br/>
            <a:r>
              <a:t>WEEK 3</a:t>
            </a:r>
            <a:br/>
            <a:r>
              <a:t>Outbound + demos + first pilot</a:t>
            </a:r>
            <a:br/>
            <a:br/>
            <a:r>
              <a:t>WEEK 4</a:t>
            </a:r>
            <a:br/>
            <a:r>
              <a:t>Close first customer; document objections</a:t>
            </a:r>
            <a:br/>
            <a:br/>
            <a:r>
              <a:t>KPI: 1+ lead conversion + first paying client.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25880"/>
            <a:ext cx="3520440" cy="470916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325880"/>
            <a:ext cx="54864" cy="4709160"/>
          </a:xfrm>
          <a:prstGeom prst="rect">
            <a:avLst/>
          </a:prstGeom>
          <a:solidFill>
            <a:srgbClr val="1897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472184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 2 — PROVE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1892807"/>
            <a:ext cx="315468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Run the winning sequence.</a:t>
            </a:r>
            <a:br/>
            <a:br/>
            <a:r>
              <a:t>Add referral/partner channel.</a:t>
            </a:r>
            <a:br/>
            <a:br/>
            <a:r>
              <a:t>Tighten qualification and appointment-show process.</a:t>
            </a:r>
            <a:br/>
            <a:br/>
            <a:r>
              <a:t>Turn client outcomes into proof points.</a:t>
            </a:r>
            <a:br/>
            <a:br/>
            <a:r>
              <a:t>KPI: 3–5 active clients + repeatable weekly pipeline.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25880"/>
            <a:ext cx="3474720" cy="4709160"/>
          </a:xfrm>
          <a:prstGeom prst="roundRect">
            <a:avLst/>
          </a:prstGeom>
          <a:solidFill>
            <a:srgbClr val="F6F9FC"/>
          </a:solidFill>
          <a:ln>
            <a:solidFill>
              <a:srgbClr val="DA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25880"/>
            <a:ext cx="54864" cy="4709160"/>
          </a:xfrm>
          <a:prstGeom prst="rect">
            <a:avLst/>
          </a:prstGeom>
          <a:solidFill>
            <a:srgbClr val="268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47218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9182B"/>
                </a:solidFill>
                <a:latin typeface="Aptos"/>
              </a:defRPr>
            </a:pPr>
            <a:r>
              <a:t>MONTH 3 —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92807"/>
            <a:ext cx="310896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5B6978"/>
                </a:solidFill>
                <a:latin typeface="Aptos"/>
              </a:defRPr>
            </a:pPr>
            <a:r>
              <a:t>Hire more setter capacity only after demand is proven.</a:t>
            </a:r>
            <a:br/>
            <a:br/>
            <a:r>
              <a:t>Expand the best-performing territories.</a:t>
            </a:r>
            <a:br/>
            <a:br/>
            <a:r>
              <a:t>Standardize onboarding + reporting.</a:t>
            </a:r>
            <a:br/>
            <a:br/>
            <a:r>
              <a:t>Target: 6–8 active clients → ~$7.5k–$10k monthly revenue.</a:t>
            </a:r>
            <a:br/>
            <a:br/>
            <a:r>
              <a:t>WHY INVEST?</a:t>
            </a:r>
            <a:br/>
            <a:r>
              <a:t>Low fixed overhead + recurring B2B revenue + measurable sales output + scalable delivery.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473952"/>
            <a:ext cx="10424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5B6978"/>
                </a:solidFill>
                <a:latin typeface="Aptos"/>
              </a:defRPr>
            </a:pPr>
            <a:r>
              <a:t>Investment case is a 90-day operating hypothesis. Success depends on market response, sales execution, compliance and client retention.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37376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5B6978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
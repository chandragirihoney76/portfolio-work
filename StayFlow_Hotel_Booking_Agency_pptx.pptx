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5B9E"/>
                </a:solidFill>
                <a:latin typeface="Aptos"/>
              </a:defRPr>
            </a:pPr>
            <a:r>
              <a:t>01 | BUSINESS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9182B"/>
                </a:solidFill>
                <a:latin typeface="Aptos"/>
              </a:defRPr>
            </a:pPr>
            <a:r>
              <a:t>StayFlow — a smarter hotel booking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1/5</a:t>
            </a:r>
          </a:p>
        </p:txBody>
      </p:sp>
      <p:pic>
        <p:nvPicPr>
          <p:cNvPr id="6" name="Picture 5" descr="hotel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234440"/>
            <a:ext cx="3520440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298448"/>
            <a:ext cx="6995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9182B"/>
                </a:solidFill>
                <a:latin typeface="Aptos"/>
              </a:defRPr>
            </a:pPr>
            <a:r>
              <a:t>Curated hotel bookings for US &amp; UK travelers and small businesses — combining OTA-level choice with human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201168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25B9E"/>
                </a:solidFill>
                <a:latin typeface="Aptos"/>
              </a:defRPr>
            </a:pPr>
            <a:r>
              <a:t>62.3%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852927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US hotel occupancy,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331720"/>
            <a:ext cx="201168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89794"/>
                </a:solidFill>
                <a:latin typeface="Aptos"/>
              </a:defRPr>
            </a:pPr>
            <a:r>
              <a:t>$160.54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52927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US ADR,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331720"/>
            <a:ext cx="201168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68E5C"/>
                </a:solidFill>
                <a:latin typeface="Aptos"/>
              </a:defRPr>
            </a:pPr>
            <a:r>
              <a:t>82.5%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852927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London occupancy,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3429000" cy="233172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20440"/>
            <a:ext cx="54864" cy="233172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65760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THE 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050791"/>
            <a:ext cx="3063240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We source, compare and book hotels for leisure travelers, corporate travelers and small group/event clients.</a:t>
            </a:r>
            <a:br/>
            <a:br/>
            <a:r>
              <a:t>Revenue: hotel commissions / contracted rates + transparent service fees where appropriate.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520440"/>
            <a:ext cx="3429000" cy="233172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520440"/>
            <a:ext cx="54864" cy="2331720"/>
          </a:xfrm>
          <a:prstGeom prst="rect">
            <a:avLst/>
          </a:prstGeom>
          <a:solidFill>
            <a:srgbClr val="18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8" y="365760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CUSTOMER PAIN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4050791"/>
            <a:ext cx="3063240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Travelers face too many options; small businesses waste time comparing rates; hotels need profitable demand.</a:t>
            </a:r>
            <a:br/>
            <a:br/>
            <a:r>
              <a:t>StayFlow curates the shortlist, negotiates where possible and provides human support.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520440"/>
            <a:ext cx="3749039" cy="233172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3520440"/>
            <a:ext cx="54864" cy="233172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3657600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COMPETITIVE 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4050791"/>
            <a:ext cx="3383279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Booking.com — massive OTA choice</a:t>
            </a:r>
            <a:br/>
            <a:r>
              <a:t>Expedia — global OTA ecosystem</a:t>
            </a:r>
            <a:br/>
            <a:r>
              <a:t>Agoda — strong international/mobile demand</a:t>
            </a:r>
            <a:br/>
            <a:br/>
            <a:r>
              <a:t>Our wedge: curated options + corporate/group support + human problem-solving.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0528"/>
            <a:ext cx="10881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80" b="0">
                <a:solidFill>
                  <a:srgbClr val="5B6978"/>
                </a:solidFill>
                <a:latin typeface="Aptos"/>
              </a:defRPr>
            </a:pPr>
            <a:r>
              <a:t>Sources: CoStar/STR 2025 US hotel performance; Knight Frank UK Hotel Trading Performance Review 2026; competitor positioning from Booking.com, Expedia and Agoda.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5B9E"/>
                </a:solidFill>
                <a:latin typeface="Aptos"/>
              </a:defRPr>
            </a:pPr>
            <a:r>
              <a:t>02 | STARTUP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9182B"/>
                </a:solidFill>
                <a:latin typeface="Aptos"/>
              </a:defRPr>
            </a:pPr>
            <a:r>
              <a:t>Start with $5,000 — build supply, demand and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2/5</a:t>
            </a:r>
          </a:p>
        </p:txBody>
      </p:sp>
      <p:pic>
        <p:nvPicPr>
          <p:cNvPr id="6" name="Picture 5" descr="booking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188720"/>
            <a:ext cx="3840480" cy="2148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234440"/>
            <a:ext cx="3429000" cy="489204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489204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7160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$5,000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3063240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$900  Supplier / booking technology + setup</a:t>
            </a:r>
            <a:br/>
            <a:r>
              <a:t>$700  Website, domain &amp; CRM</a:t>
            </a:r>
            <a:br/>
            <a:r>
              <a:t>$1,000  B2B prospecting + travel ads test</a:t>
            </a:r>
            <a:br/>
            <a:r>
              <a:t>$1,200  Part-time sales / booking support</a:t>
            </a:r>
            <a:br/>
            <a:r>
              <a:t>$500  Content + creative</a:t>
            </a:r>
            <a:br/>
            <a:r>
              <a:t>$300  Admin / contracts / insurance buffer</a:t>
            </a:r>
            <a:br/>
            <a:r>
              <a:t>$400  Contingency</a:t>
            </a:r>
            <a:br/>
            <a:br/>
            <a:r>
              <a:t>TOTAL = $5,000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3566160"/>
            <a:ext cx="3337560" cy="256032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3566160"/>
            <a:ext cx="54864" cy="2560320"/>
          </a:xfrm>
          <a:prstGeom prst="rect">
            <a:avLst/>
          </a:prstGeom>
          <a:solidFill>
            <a:srgbClr val="18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3703320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LEAN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4096511"/>
            <a:ext cx="297180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Founder — sales, supplier relationships, key accounts</a:t>
            </a:r>
            <a:br/>
            <a:br/>
            <a:r>
              <a:t>Booking Specialist — quotes, reservations, changes</a:t>
            </a:r>
            <a:br/>
            <a:br/>
            <a:r>
              <a:t>Freelance Marketing/VA — prospecting, content, CRM</a:t>
            </a:r>
            <a:br/>
            <a:br/>
            <a:r>
              <a:t>Remote-first: no office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566160"/>
            <a:ext cx="3794760" cy="256032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3566160"/>
            <a:ext cx="54864" cy="256032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370332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CORE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4096511"/>
            <a:ext cx="342900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CRM + inquiry form → hotel/supplier inventory → comparison sheet/API → secure payment process → voucher → post-booking support.</a:t>
            </a:r>
            <a:br/>
            <a:br/>
            <a:r>
              <a:t>Control point: only sell rates and inventory we can actually confirm.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881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80" b="0">
                <a:solidFill>
                  <a:srgbClr val="5B6978"/>
                </a:solidFill>
                <a:latin typeface="Aptos"/>
              </a:defRPr>
            </a:pPr>
            <a:r>
              <a:t>Startup budget is a proposed operating allocation. Supplier/API access and commercial terms vary by provider and must be contracted before launch.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5B9E"/>
                </a:solidFill>
                <a:latin typeface="Aptos"/>
              </a:defRPr>
            </a:pPr>
            <a:r>
              <a:t>03 | SALES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9182B"/>
                </a:solidFill>
                <a:latin typeface="Aptos"/>
              </a:defRPr>
            </a:pPr>
            <a:r>
              <a:t>First 10 customers — sell a specific outcome, not “cheap hotels”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3/5</a:t>
            </a:r>
          </a:p>
        </p:txBody>
      </p:sp>
      <p:pic>
        <p:nvPicPr>
          <p:cNvPr id="6" name="Picture 5" descr="travel_jour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234440"/>
            <a:ext cx="3520440" cy="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234440"/>
            <a:ext cx="3429000" cy="48006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480060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7160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WHO WE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3063240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1. SME owners &amp; executive assistants</a:t>
            </a:r>
            <a:br/>
            <a:r>
              <a:t>2. Relocation / project teams</a:t>
            </a:r>
            <a:br/>
            <a:r>
              <a:t>3. Wedding &amp; event planners</a:t>
            </a:r>
            <a:br/>
            <a:r>
              <a:t>4. Boutique travel advisors needing overflow</a:t>
            </a:r>
            <a:br/>
            <a:r>
              <a:t>5. Frequent leisure travelers seeking curated stays</a:t>
            </a:r>
            <a:br/>
            <a:br/>
            <a:r>
              <a:t>Start with 2–3 destinations, then expand.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3429000"/>
            <a:ext cx="3429000" cy="260604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3429000"/>
            <a:ext cx="54864" cy="2606040"/>
          </a:xfrm>
          <a:prstGeom prst="rect">
            <a:avLst/>
          </a:prstGeom>
          <a:solidFill>
            <a:srgbClr val="18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356616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ACQUISITION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959352"/>
            <a:ext cx="306324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Daily:</a:t>
            </a:r>
            <a:br/>
            <a:r>
              <a:t>• 30–40 B2B calls</a:t>
            </a:r>
            <a:br/>
            <a:r>
              <a:t>• 30 personalized emails</a:t>
            </a:r>
            <a:br/>
            <a:r>
              <a:t>• 20 LinkedIn touches</a:t>
            </a:r>
            <a:br/>
            <a:r>
              <a:t>• 5 partner outreach messages</a:t>
            </a:r>
            <a:br/>
            <a:br/>
            <a:r>
              <a:t>Offer: “Free 3-hotel comparison + 24-hour quote.”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429000"/>
            <a:ext cx="3703320" cy="260604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3429000"/>
            <a:ext cx="54864" cy="260604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8" y="356616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10-CUSTOMER FUNNEL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3959352"/>
            <a:ext cx="33375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300 qualified prospects</a:t>
            </a:r>
            <a:br/>
            <a:r>
              <a:t>↓ 60 conversations</a:t>
            </a:r>
            <a:br/>
            <a:r>
              <a:t>↓ 25 quote requests</a:t>
            </a:r>
            <a:br/>
            <a:r>
              <a:t>↓ 15 serious buyers</a:t>
            </a:r>
            <a:br/>
            <a:r>
              <a:t>↓ 10 first customers</a:t>
            </a:r>
            <a:br/>
            <a:br/>
            <a:r>
              <a:t>Then ask every satisfied customer for 2 referrals and a repeat-booking date.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881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80" b="0">
                <a:solidFill>
                  <a:srgbClr val="5B6978"/>
                </a:solidFill>
                <a:latin typeface="Aptos"/>
              </a:defRPr>
            </a:pPr>
            <a:r>
              <a:t>Acquisition funnel is an explicit planning assumption, not a market guarantee. Outreach must follow applicable email, privacy and telemarketing rules in each target market.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5B9E"/>
                </a:solidFill>
                <a:latin typeface="Aptos"/>
              </a:defRPr>
            </a:pPr>
            <a:r>
              <a:t>04 | MONEY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9182B"/>
                </a:solidFill>
                <a:latin typeface="Aptos"/>
              </a:defRPr>
            </a:pPr>
            <a:r>
              <a:t>$10,000/month — build recurring room-night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4/5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56032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32588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25B9E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755648"/>
            <a:ext cx="2377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Illustrative gross booking margin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34440"/>
            <a:ext cx="256032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2588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89794"/>
                </a:solidFill>
                <a:latin typeface="Aptos"/>
              </a:defRPr>
            </a:pPr>
            <a:r>
              <a:t>$200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55648"/>
            <a:ext cx="2377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Illustrative ADR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56032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2588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68E5C"/>
                </a:solidFill>
                <a:latin typeface="Aptos"/>
              </a:defRPr>
            </a:pPr>
            <a:r>
              <a:t>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55648"/>
            <a:ext cx="2377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Room nights / 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234440"/>
            <a:ext cx="256032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32588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DC9930"/>
                </a:solidFill>
                <a:latin typeface="Aptos"/>
              </a:defRPr>
            </a:pPr>
            <a:r>
              <a:t>$8,000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755648"/>
            <a:ext cx="2377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Booking revenue contribution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468880"/>
            <a:ext cx="347472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468880"/>
            <a:ext cx="54864" cy="342900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26060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REVENUE MIX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2999232"/>
            <a:ext cx="310896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Corporate stays:</a:t>
            </a:r>
            <a:br/>
            <a:r>
              <a:t>300 room nights × $200 ADR × 10% = $6,000</a:t>
            </a:r>
            <a:br/>
            <a:br/>
            <a:r>
              <a:t>Group / event service:</a:t>
            </a:r>
            <a:br/>
            <a:r>
              <a:t>10 bookings × $250 fee = $2,500</a:t>
            </a:r>
            <a:br/>
            <a:br/>
            <a:r>
              <a:t>Premium planning / concierge:</a:t>
            </a:r>
            <a:br/>
            <a:r>
              <a:t>5 × $300 = $1,500</a:t>
            </a:r>
            <a:br/>
            <a:br/>
            <a:r>
              <a:t>TOTAL TARGET = $10,000/month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2468880"/>
            <a:ext cx="347472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2468880"/>
            <a:ext cx="54864" cy="3429000"/>
          </a:xfrm>
          <a:prstGeom prst="rect">
            <a:avLst/>
          </a:prstGeom>
          <a:solidFill>
            <a:srgbClr val="18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26060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MONTHLY EXPENSE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2999232"/>
            <a:ext cx="310896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Booking specialist / VA — $1,500</a:t>
            </a:r>
            <a:br/>
            <a:r>
              <a:t>CRM + software — $350</a:t>
            </a:r>
            <a:br/>
            <a:r>
              <a:t>Marketing / outreach — $700</a:t>
            </a:r>
            <a:br/>
            <a:r>
              <a:t>Payment/admin/insurance — $300</a:t>
            </a:r>
            <a:br/>
            <a:r>
              <a:t>Content / creative — $250</a:t>
            </a:r>
            <a:br/>
            <a:r>
              <a:t>Contingency — $400</a:t>
            </a:r>
            <a:br/>
            <a:br/>
            <a:r>
              <a:t>Illustrative OPEX ≈ $3,500</a:t>
            </a:r>
            <a:br/>
            <a:r>
              <a:t>Target contribution ≈ $6,500 before tax.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2468880"/>
            <a:ext cx="361188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73568" y="2468880"/>
            <a:ext cx="54864" cy="342900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6060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WHY THIS CAN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2999232"/>
            <a:ext cx="324612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The unit is the room night, not a one-time customer.</a:t>
            </a:r>
            <a:br/>
            <a:br/>
            <a:r>
              <a:t>Win a corporate account → repeat stays → expand to more employees → add groups/events → add destinations.</a:t>
            </a:r>
            <a:br/>
            <a:br/>
            <a:r>
              <a:t>Track: booking conversion, average booking value, gross margin, repeat rate, cancellation rate.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10881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80" b="0">
                <a:solidFill>
                  <a:srgbClr val="5B6978"/>
                </a:solidFill>
                <a:latin typeface="Aptos"/>
              </a:defRPr>
            </a:pPr>
            <a:r>
              <a:t>Financial model is illustrative. The 10% margin assumption must be validated against actual supplier/agency contracts; hotel commission structures vary by channel and agreement.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5B9E"/>
                </a:solidFill>
                <a:latin typeface="Aptos"/>
              </a:defRPr>
            </a:pPr>
            <a:r>
              <a:t>05 | 90-DAY PLAN + INVESTMENT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9182B"/>
                </a:solidFill>
                <a:latin typeface="Aptos"/>
              </a:defRPr>
            </a:pPr>
            <a:r>
              <a:t>90 days: launch → prove →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5/5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74720" cy="489204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54864" cy="489204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716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MONTH 1 —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64792"/>
            <a:ext cx="3108960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WEEK 1</a:t>
            </a:r>
            <a:br/>
            <a:r>
              <a:t>Define niche, destinations and offer</a:t>
            </a:r>
            <a:br/>
            <a:br/>
            <a:r>
              <a:t>WEEK 2</a:t>
            </a:r>
            <a:br/>
            <a:r>
              <a:t>Set up website, CRM, supplier relationships and booking workflow</a:t>
            </a:r>
            <a:br/>
            <a:br/>
            <a:r>
              <a:t>WEEK 3</a:t>
            </a:r>
            <a:br/>
            <a:r>
              <a:t>Start B2B outreach + first quotes</a:t>
            </a:r>
            <a:br/>
            <a:br/>
            <a:r>
              <a:t>WEEK 4</a:t>
            </a:r>
            <a:br/>
            <a:r>
              <a:t>Close first customers; collect testimonials</a:t>
            </a:r>
            <a:br/>
            <a:br/>
            <a:r>
              <a:t>KPI: 10 paying/booking customers or a clear pipeline toward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234440"/>
            <a:ext cx="3474720" cy="489204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234440"/>
            <a:ext cx="54864" cy="4892040"/>
          </a:xfrm>
          <a:prstGeom prst="rect">
            <a:avLst/>
          </a:prstGeom>
          <a:solidFill>
            <a:srgbClr val="18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3716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MONTH 2 — 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764792"/>
            <a:ext cx="3108960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Focus on the channel producing the cheapest qualified bookings.</a:t>
            </a:r>
            <a:br/>
            <a:br/>
            <a:r>
              <a:t>Add corporate repeat-booking reminders.</a:t>
            </a:r>
            <a:br/>
            <a:br/>
            <a:r>
              <a:t>Build 3 referral partnerships: event planners, travel advisors, relocation firms.</a:t>
            </a:r>
            <a:br/>
            <a:br/>
            <a:r>
              <a:t>KPI: 20–25 active customers / repeat bookings + improving conversion.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234440"/>
            <a:ext cx="3611880" cy="489204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3568" y="1234440"/>
            <a:ext cx="54864" cy="489204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37160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MONTH 3 —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764792"/>
            <a:ext cx="3246120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8"/>
                </a:solidFill>
                <a:latin typeface="Aptos"/>
              </a:defRPr>
            </a:pPr>
            <a:r>
              <a:t>Expand only the best-performing destinations.</a:t>
            </a:r>
            <a:br/>
            <a:br/>
            <a:r>
              <a:t>Add supplier inventory and automation after demand is proven.</a:t>
            </a:r>
            <a:br/>
            <a:br/>
            <a:r>
              <a:t>Target: 400 room nights/month + $10k monthly revenue.</a:t>
            </a:r>
            <a:br/>
            <a:br/>
            <a:r>
              <a:t>WHY INVEST?</a:t>
            </a:r>
            <a:br/>
            <a:r>
              <a:t>Low fixed overhead • recurring bookings • diversified customer segments • measurable unit economics • scalable destination expansion.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881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80" b="0">
                <a:solidFill>
                  <a:srgbClr val="5B6978"/>
                </a:solidFill>
                <a:latin typeface="Aptos"/>
              </a:defRPr>
            </a:pPr>
            <a:r>
              <a:t>Key market context: PwC US Hospitality Directions May 2026 projects 2.9% US lodging RevPAR growth in 2026 and notes AI is changing booking behavior. CoStar/STR and Knight Frank provide 2025 performance benchmarks.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